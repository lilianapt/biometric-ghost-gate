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63093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64008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0" y="35661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10" name="Image 0" descr="icons/g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927202"/>
            <a:ext cx="523037" cy="5230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0" y="1965960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0" y="2697480"/>
            <a:ext cx="12188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GHOST-GATE</a:t>
            </a:r>
            <a:endParaRPr lang="en-US" sz="5400" dirty="0"/>
          </a:p>
        </p:txBody>
      </p:sp>
      <p:sp>
        <p:nvSpPr>
          <p:cNvPr id="13" name="Shape 10"/>
          <p:cNvSpPr/>
          <p:nvPr/>
        </p:nvSpPr>
        <p:spPr>
          <a:xfrm>
            <a:off x="4539996" y="3886200"/>
            <a:ext cx="3108960" cy="502920"/>
          </a:xfrm>
          <a:prstGeom prst="roundRect">
            <a:avLst>
              <a:gd name="adj" fmla="val 50909"/>
            </a:avLst>
          </a:prstGeom>
          <a:solidFill>
            <a:srgbClr val="241C57"/>
          </a:solidFill>
          <a:ln w="12700">
            <a:solidFill>
              <a:srgbClr val="8B7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996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Redefined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0" y="5989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  ·   Evelyn   ·   Mar   ·   Avigayl   ·   Liliana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63093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64008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0" y="35661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1097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biométrica es el activo más valioso — y el más expuesto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1F1A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ciberataques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LATAM ocurren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96596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1F1A4D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ataques ya son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multivector, no simples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saturaciones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1F1A4D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5508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tráfico digital 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por bots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sofisticados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1F1A4D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18972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Fintechs no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protección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91672" cy="1600200"/>
          </a:xfrm>
          <a:prstGeom prst="roundRect">
            <a:avLst>
              <a:gd name="adj" fmla="val 8000"/>
            </a:avLst>
          </a:prstGeom>
          <a:solidFill>
            <a:srgbClr val="241C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617720"/>
            <a:ext cx="822960" cy="822960"/>
          </a:xfrm>
          <a:prstGeom prst="ellipse">
            <a:avLst/>
          </a:prstGeom>
          <a:solidFill>
            <a:srgbClr val="140F2E"/>
          </a:solidFill>
          <a:ln/>
        </p:spPr>
      </p:sp>
      <p:pic>
        <p:nvPicPr>
          <p:cNvPr id="26" name="Image 0" descr="icons/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4815230"/>
            <a:ext cx="427939" cy="42793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965960" y="4572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una contraseña, el robo de datos biométricos es irreversible. Nadie puede “resetear” su huella o su rostro — lo que convierte esto en un riesgo existencial para Fintechs, Neobancos y plataformas de criptomonedas en México.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Legal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Federal de Protección de Datos Personales (LFPDPPP)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3043"/>
            </a:avLst>
          </a:prstGeom>
          <a:solidFill>
            <a:srgbClr val="140F2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7" name="Image 0" descr="icon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353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640,000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$69 millones MXN en escenarios graves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biométricos son datos sensibles: las sanciones pueden duplicarse.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74920" y="1874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aplica el nivel máximo?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74920" y="2514600"/>
            <a:ext cx="6537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F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2633472"/>
            <a:ext cx="457200" cy="457200"/>
          </a:xfrm>
          <a:prstGeom prst="ellipse">
            <a:avLst/>
          </a:prstGeom>
          <a:solidFill>
            <a:srgbClr val="F0EBFF"/>
          </a:solidFill>
          <a:ln/>
        </p:spPr>
      </p:sp>
      <p:pic>
        <p:nvPicPr>
          <p:cNvPr id="16" name="Image 1" descr="icons/aler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274320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97880" y="25146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 o brecha de seguridad (data breach)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074920" y="3383280"/>
            <a:ext cx="6537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F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57800" y="3502152"/>
            <a:ext cx="457200" cy="457200"/>
          </a:xfrm>
          <a:prstGeom prst="ellipse">
            <a:avLst/>
          </a:prstGeom>
          <a:solidFill>
            <a:srgbClr val="F0EBFF"/>
          </a:solidFill>
          <a:ln/>
        </p:spPr>
      </p:sp>
      <p:pic>
        <p:nvPicPr>
          <p:cNvPr id="20" name="Image 2" descr="icons/aler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3611880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97880" y="338328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o uso indebido con dolo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074920" y="4251960"/>
            <a:ext cx="6537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FF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57800" y="4370832"/>
            <a:ext cx="457200" cy="457200"/>
          </a:xfrm>
          <a:prstGeom prst="ellipse">
            <a:avLst/>
          </a:prstGeom>
          <a:solidFill>
            <a:srgbClr val="F0EBFF"/>
          </a:solidFill>
          <a:ln/>
        </p:spPr>
      </p:sp>
      <p:pic>
        <p:nvPicPr>
          <p:cNvPr id="24" name="Image 3" descr="icons/aler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448056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42519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medidas de seguridad adecuadas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074920" y="5120640"/>
            <a:ext cx="6537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FF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257800" y="5239512"/>
            <a:ext cx="457200" cy="457200"/>
          </a:xfrm>
          <a:prstGeom prst="ellipse">
            <a:avLst/>
          </a:prstGeom>
          <a:solidFill>
            <a:srgbClr val="F0EBFF"/>
          </a:solidFill>
          <a:ln/>
        </p:spPr>
      </p:sp>
      <p:pic>
        <p:nvPicPr>
          <p:cNvPr id="28" name="Image 4" descr="icons/alert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534924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897880" y="512064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sin consentimiento de datos sensibles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63093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64008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0" y="35661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ponemos una barrera más fuerte. Hacemos que no haya nada que atacar.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1F1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851660" y="2331720"/>
            <a:ext cx="914400" cy="91440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14" name="Image 0" descr="icons/g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2551176"/>
            <a:ext cx="475488" cy="4754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34747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Fantasma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22960" y="42062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Rotamos dinámicamente IPs de los servidores. El atacante no puede robar lo que no puede encontrar.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43400" y="196596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1F1A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46420" y="2331720"/>
            <a:ext cx="914400" cy="91440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19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551176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34747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Adaptativa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4617720" y="42062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basada en Random Forest detecta comportamiento sospechoso y ataques de suplantación en tiempo real.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138160" y="1965960"/>
            <a:ext cx="3520440" cy="4023360"/>
          </a:xfrm>
          <a:prstGeom prst="roundRect">
            <a:avLst>
              <a:gd name="adj" fmla="val 4156"/>
            </a:avLst>
          </a:prstGeom>
          <a:solidFill>
            <a:srgbClr val="1F1A4D"/>
          </a:solidFill>
          <a:ln/>
        </p:spPr>
      </p:sp>
      <p:sp>
        <p:nvSpPr>
          <p:cNvPr id="23" name="Shape 19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24" name="Image 2" descr="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2551176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34747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1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Hash-Only Compliance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412480" y="42062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Anonimización irreversible (SHA-256): nunca almacenamos el rasgo biométrico crudo, solo un código matemático.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Construimos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mínimo viable real, no solo conceptual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40F2E"/>
          </a:solidFill>
          <a:ln/>
        </p:spPr>
      </p:sp>
      <p:sp>
        <p:nvSpPr>
          <p:cNvPr id="6" name="Shape 4"/>
          <p:cNvSpPr/>
          <p:nvPr/>
        </p:nvSpPr>
        <p:spPr>
          <a:xfrm>
            <a:off x="1394460" y="2103120"/>
            <a:ext cx="640080" cy="64008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7" name="Image 0" descr="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079" y="2256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transacciones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80360" y="24460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19659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40F2E"/>
          </a:solidFill>
          <a:ln/>
        </p:spPr>
      </p:sp>
      <p:sp>
        <p:nvSpPr>
          <p:cNvPr id="12" name="Shape 9"/>
          <p:cNvSpPr/>
          <p:nvPr/>
        </p:nvSpPr>
        <p:spPr>
          <a:xfrm>
            <a:off x="4046220" y="2103120"/>
            <a:ext cx="640080" cy="64008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13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839" y="22567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 VM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532120" y="24460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852160" y="19659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40F2E"/>
          </a:solidFill>
          <a:ln/>
        </p:spPr>
      </p:sp>
      <p:sp>
        <p:nvSpPr>
          <p:cNvPr id="18" name="Shape 14"/>
          <p:cNvSpPr/>
          <p:nvPr/>
        </p:nvSpPr>
        <p:spPr>
          <a:xfrm>
            <a:off x="6697980" y="2103120"/>
            <a:ext cx="640080" cy="64008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19" name="Image 2" descr="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599" y="225673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Simulador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4360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automatizados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183880" y="24460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8503920" y="19659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40F2E"/>
          </a:solidFill>
          <a:ln/>
        </p:spPr>
      </p:sp>
      <p:sp>
        <p:nvSpPr>
          <p:cNvPr id="24" name="Shape 19"/>
          <p:cNvSpPr/>
          <p:nvPr/>
        </p:nvSpPr>
        <p:spPr>
          <a:xfrm>
            <a:off x="9349740" y="2103120"/>
            <a:ext cx="640080" cy="64008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25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359" y="225673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9536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Etiquetado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59536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vs. bot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E9E4FF"/>
          </a:solidFill>
          <a:ln/>
        </p:spPr>
      </p:sp>
      <p:pic>
        <p:nvPicPr>
          <p:cNvPr id="29" name="Image 4" descr="icons/check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3886932"/>
            <a:ext cx="199705" cy="19970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3767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comportamiento humano real: tiempo de interacción y geolocalización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E9E4FF"/>
          </a:solidFill>
          <a:ln/>
        </p:spPr>
      </p:sp>
      <p:pic>
        <p:nvPicPr>
          <p:cNvPr id="32" name="Image 5" descr="icons/check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4545300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97280" y="44256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auditoría por cuenta con trazabilidad temporal completa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5111496"/>
            <a:ext cx="384048" cy="384048"/>
          </a:xfrm>
          <a:prstGeom prst="ellipse">
            <a:avLst/>
          </a:prstGeom>
          <a:solidFill>
            <a:srgbClr val="E9E4FF"/>
          </a:solidFill>
          <a:ln/>
        </p:spPr>
      </p:sp>
      <p:pic>
        <p:nvPicPr>
          <p:cNvPr id="35" name="Image 6" descr="icons/check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5203668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97280" y="50840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autonomía de la IA ya definido: bloqueo temporal + alerta humana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4FD1C5"/>
          </a:solidFill>
          <a:ln/>
        </p:spPr>
      </p:sp>
      <p:sp>
        <p:nvSpPr>
          <p:cNvPr id="38" name="Text 29"/>
          <p:cNvSpPr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ya etiquetado humano vs. bot — la base exacta que necesita un modelo supervisado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63093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64008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0" y="35661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Propósito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IA invisible protege al humano sin interrumpirlo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4937760" cy="1828800"/>
          </a:xfrm>
          <a:prstGeom prst="roundRect">
            <a:avLst>
              <a:gd name="adj" fmla="val 7000"/>
            </a:avLst>
          </a:prstGeom>
          <a:solidFill>
            <a:srgbClr val="1F1A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latencia — validación imperceptible para el usuario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4937760" cy="1965960"/>
          </a:xfrm>
          <a:prstGeom prst="roundRect">
            <a:avLst>
              <a:gd name="adj" fmla="val 6512"/>
            </a:avLst>
          </a:prstGeom>
          <a:solidFill>
            <a:srgbClr val="241C57"/>
          </a:solidFill>
          <a:ln w="12700">
            <a:solidFill>
              <a:srgbClr val="8B7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Autonomía Definido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logins sospechosos simultáneos, la IA bloquea temporalmente (minutos) y alerta a un humano. La decisión final —desbloquear o escalar— siempre es humana.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502920" cy="502920"/>
          </a:xfrm>
          <a:prstGeom prst="ellipse">
            <a:avLst/>
          </a:prstGeom>
          <a:solidFill>
            <a:srgbClr val="1F1A4D"/>
          </a:solidFill>
          <a:ln/>
        </p:spPr>
      </p:sp>
      <p:pic>
        <p:nvPicPr>
          <p:cNvPr id="19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2861" y="208666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37960" y="1984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Pasiva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852160" y="2926080"/>
            <a:ext cx="502920" cy="502920"/>
          </a:xfrm>
          <a:prstGeom prst="ellipse">
            <a:avLst/>
          </a:prstGeom>
          <a:solidFill>
            <a:srgbClr val="1F1A4D"/>
          </a:solidFill>
          <a:ln/>
        </p:spPr>
      </p:sp>
      <p:pic>
        <p:nvPicPr>
          <p:cNvPr id="2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61" y="3046781"/>
            <a:ext cx="261518" cy="2615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37960" y="2944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Microsegundos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852160" y="3886200"/>
            <a:ext cx="502920" cy="502920"/>
          </a:xfrm>
          <a:prstGeom prst="ellipse">
            <a:avLst/>
          </a:prstGeom>
          <a:solidFill>
            <a:srgbClr val="1F1A4D"/>
          </a:solidFill>
          <a:ln/>
        </p:spPr>
      </p:sp>
      <p:pic>
        <p:nvPicPr>
          <p:cNvPr id="25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861" y="4006901"/>
            <a:ext cx="261518" cy="26151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37960" y="3904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Inmunidad Activa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852160" y="4846320"/>
            <a:ext cx="502920" cy="502920"/>
          </a:xfrm>
          <a:prstGeom prst="ellipse">
            <a:avLst/>
          </a:prstGeom>
          <a:solidFill>
            <a:srgbClr val="1F1A4D"/>
          </a:solidFill>
          <a:ln/>
        </p:spPr>
      </p:sp>
      <p:pic>
        <p:nvPicPr>
          <p:cNvPr id="28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861" y="4967021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y Valor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TAM / SAM / SOM — México,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828800"/>
          </a:xfrm>
          <a:prstGeom prst="roundRect">
            <a:avLst>
              <a:gd name="adj" fmla="val 7000"/>
            </a:avLst>
          </a:prstGeom>
          <a:solidFill>
            <a:srgbClr val="140F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proyectado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1828800"/>
          </a:xfrm>
          <a:prstGeom prst="roundRect">
            <a:avLst>
              <a:gd name="adj" fmla="val 7000"/>
            </a:avLst>
          </a:prstGeom>
          <a:solidFill>
            <a:srgbClr val="140F2E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3774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2628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Fintechs y Neobancos MX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520440" cy="1828800"/>
          </a:xfrm>
          <a:prstGeom prst="roundRect">
            <a:avLst>
              <a:gd name="adj" fmla="val 7000"/>
            </a:avLst>
          </a:prstGeom>
          <a:solidFill>
            <a:srgbClr val="140F2E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3774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Fintechs emergentes objetivo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91672" cy="2148840"/>
          </a:xfrm>
          <a:prstGeom prst="roundRect">
            <a:avLst>
              <a:gd name="adj" fmla="val 5957"/>
            </a:avLst>
          </a:prstGeom>
          <a:solidFill>
            <a:srgbClr val="4FD1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3434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icons/dolla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4672584"/>
            <a:ext cx="713232" cy="713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651760" y="4160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9,900%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2651760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estimado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26480" y="43434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Fintech invierte $1M MXN en BGG y evita una brecha promedio de $100M MXN, el retorno es de 9,900%. Además, reducimos hasta 60% en costos de cumplimiento y seguros.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97280" y="63093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521440" y="64008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0" y="3657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0" y="35661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Estratégica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BGG frente a firewalls tradicionales (Cisco / Palo Alto)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241C5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Tradicionales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18288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8B7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237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3317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F1A4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51760" y="23317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estática: blanco fácil, expuesta ante intrusiones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23317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241C57"/>
          </a:solidFill>
          <a:ln w="9525">
            <a:solidFill>
              <a:srgbClr val="8B7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06640" y="23317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rotativas: el atacante no puede encontrar lo que no 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68880" y="32918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F1A4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651760" y="32918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filtrado en espacio de usuario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32918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241C57"/>
          </a:solidFill>
          <a:ln w="9525">
            <a:solidFill>
              <a:srgbClr val="8B7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06640" y="32918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Microsegundos: validación directa en Kernel (eBPF/XDP)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68880" y="42519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F1A4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51760" y="4251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$4,000–$65,000 USD/mes por volumen de datos (SIEM/XDR tradicional)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42519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241C57"/>
          </a:solidFill>
          <a:ln w="9525">
            <a:solidFill>
              <a:srgbClr val="8B7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406640" y="4251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SaaS B2B: pago por detección de ataque, no por volumen de datos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212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68880" y="52120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F1A4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651760" y="5212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global genérico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52120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241C57"/>
          </a:solidFill>
          <a:ln w="9525">
            <a:solidFill>
              <a:srgbClr val="8B7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406640" y="5212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Anonimización irreversible SHA-256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real y siguientes pasos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25400">
            <a:solidFill>
              <a:srgbClr val="D6CF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0255" y="3145536"/>
            <a:ext cx="201168" cy="201168"/>
          </a:xfrm>
          <a:prstGeom prst="ellipse">
            <a:avLst/>
          </a:prstGeom>
          <a:solidFill>
            <a:srgbClr val="4FD1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6399" y="16459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40F2E"/>
          </a:solidFill>
          <a:ln/>
        </p:spPr>
      </p:sp>
      <p:sp>
        <p:nvSpPr>
          <p:cNvPr id="8" name="Text 6"/>
          <p:cNvSpPr/>
          <p:nvPr/>
        </p:nvSpPr>
        <p:spPr>
          <a:xfrm>
            <a:off x="1043559" y="17556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3559" y="2075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y Observabilidad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43559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 — 200 registros ✓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0839" y="2926080"/>
            <a:ext cx="0" cy="219456"/>
          </a:xfrm>
          <a:prstGeom prst="line">
            <a:avLst/>
          </a:prstGeom>
          <a:noFill/>
          <a:ln w="19050">
            <a:solidFill>
              <a:srgbClr val="D6CFF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76013" y="3145536"/>
            <a:ext cx="201168" cy="201168"/>
          </a:xfrm>
          <a:prstGeom prst="ellipse">
            <a:avLst/>
          </a:prstGeom>
          <a:solidFill>
            <a:srgbClr val="8B7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2157" y="356616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9317" y="36758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9317" y="39959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Ghost-MTD Real (eBPF/XDP)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79317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Iniciando ahora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6597" y="3346704"/>
            <a:ext cx="0" cy="219456"/>
          </a:xfrm>
          <a:prstGeom prst="line">
            <a:avLst/>
          </a:prstGeom>
          <a:noFill/>
          <a:ln w="19050">
            <a:solidFill>
              <a:srgbClr val="D6CFF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11771" y="3145536"/>
            <a:ext cx="201168" cy="201168"/>
          </a:xfrm>
          <a:prstGeom prst="ellipse">
            <a:avLst/>
          </a:prstGeom>
          <a:solidFill>
            <a:srgbClr val="4FD1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7915" y="16459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40F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15075" y="17556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5075" y="20756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Conductual (IA)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15075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balanceado, entrenando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12355" y="2926080"/>
            <a:ext cx="0" cy="219456"/>
          </a:xfrm>
          <a:prstGeom prst="line">
            <a:avLst/>
          </a:prstGeom>
          <a:noFill/>
          <a:ln w="19050">
            <a:solidFill>
              <a:srgbClr val="D6CFF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947529" y="3145536"/>
            <a:ext cx="201168" cy="201168"/>
          </a:xfrm>
          <a:prstGeom prst="ellipse">
            <a:avLst/>
          </a:prstGeom>
          <a:solidFill>
            <a:srgbClr val="8B7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13673" y="356616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0833" y="36758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50833" y="39959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Biométrica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50833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de deepfakes definidos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48113" y="3346704"/>
            <a:ext cx="0" cy="219456"/>
          </a:xfrm>
          <a:prstGeom prst="line">
            <a:avLst/>
          </a:prstGeom>
          <a:noFill/>
          <a:ln w="19050">
            <a:solidFill>
              <a:srgbClr val="D6CFF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140F2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ya construido + nivel de autonomía de la IA definido: el fundamento de Fase 2b y 3b ya existe.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63093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640080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47472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0" y="3566160"/>
            <a:ext cx="45720" cy="45720"/>
          </a:xfrm>
          <a:prstGeom prst="ellipse">
            <a:avLst/>
          </a:prstGeom>
          <a:solidFill>
            <a:srgbClr val="8B7F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37276" y="822960"/>
            <a:ext cx="914400" cy="914400"/>
          </a:xfrm>
          <a:prstGeom prst="ellipse">
            <a:avLst/>
          </a:prstGeom>
          <a:solidFill>
            <a:srgbClr val="241C57"/>
          </a:solidFill>
          <a:ln/>
        </p:spPr>
      </p:sp>
      <p:pic>
        <p:nvPicPr>
          <p:cNvPr id="10" name="Image 0" descr="icons/g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104241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0312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vendemos un firewall.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Vendemos la garantía de que los datos más sensibles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personas nunca podrán ser robados.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265676" y="411480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241C57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5676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7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  ·   Evelyn   ·   Mar   ·   Avigayl   ·   Liliana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2026-08-21T03:39:52Z</dcterms:created>
  <dcterms:modified xsi:type="dcterms:W3CDTF">2026-08-21T03:39:52Z</dcterms:modified>
</cp:coreProperties>
</file>